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54864" cy="6858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E5FF"/>
                </a:solidFill>
              </a:rPr>
              <a:t>⛓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1463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CustodyChain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Tamper-Proof Digital Evidence Management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VETARA Scoring &amp; Anomaly Detection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3127248"/>
            <a:ext cx="420624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Shubham Gadekar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6118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National Forensic Sciences University, Goa Campus (NFSU Goa)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3913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Hackathon 2026  |  Cybersecurity Track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03520" y="137160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Blockchain</a:t>
            </a:r>
            <a:endParaRPr lang="en-US" sz="1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🧮 VETARA Score</a:t>
            </a:r>
            <a:endParaRPr lang="en-US" sz="1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Anomaly Detector</a:t>
            </a:r>
            <a:endParaRPr lang="en-US" sz="1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5-Role RBAC</a:t>
            </a:r>
            <a:endParaRPr lang="en-US" sz="19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8 Evidence Forms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Current Evidence Systems Fail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9047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🗄️  Centralised Databases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9280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Single point of failure — one insider can alter or delete records without detection.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3258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49047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🔗  Chain-of-Custody Gaps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189280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Manual log books are easy to manipulate; courts routinely reject uncorroborated evidence.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5935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💰  Cost Barrier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36168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Enterprise forensic platforms (EnCase, FTK) cost lakhs/year — out of reach for most state police units.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09360" y="379476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959352"/>
            <a:ext cx="5120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FF"/>
                </a:solidFill>
              </a:rPr>
              <a:t>☁️  Cloud Dependency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4361688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SaaS tools require internet connectivity, DPA compliance, and trust in third-party vendors.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CustodyChain — Purpose-Built Forensic Blockchain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A self-hosted, offline-capable blockchain that seals every piece of digital evidence as an immutable block the moment it is seized — with no cloud dependency, no vendor lock-in, and automatic trust scoring on every record.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659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09397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⛓  SHA-256 PoW Blockchain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2496312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Each block mined with Proof-of-Work; tamper breaks the hash chain.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209397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🌲  Merkle Tree Custody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07992" y="2496312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Every custody event hashed into a Merkle tree inside the block.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321040" y="196596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209397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🧮  VETARA Score (Original)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85632" y="2496312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0–100 per-block integrity rating — our novel algorithm.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4242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🚨  Anomaly Detector (Original)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4645152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Real-time flags: off-hours, burst, collisions, orphaned cases.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43400" y="41148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4242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🔐  5-Role RBAC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07992" y="4645152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IO / Forensic Expert / Supervisor / Legal / Admin with 11 permissions.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21040" y="4114800"/>
            <a:ext cx="3657600" cy="18288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5632" y="4242816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📋  8 Evidence Form Types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85632" y="4645152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Phone, laptop, storage, image, audio, video, log, forensic report.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ORIGINAL ALGO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VETARA — Verified Evidence Trust And Risk Assessment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AEC0"/>
                </a:solidFill>
              </a:rPr>
              <a:t>Every evidence block receives a 0–100 integrity score the moment it is mined. Deterministic — same inputs always produce the same score, making it reproducible in court.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10972800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7452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A. Chain Continuity   —   Hash correctly linked to previous block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0" y="201168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30 pts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10972800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697480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B. Custody Event Depth   —   ≥3 custody events = full marks, scaled linearly below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89920" y="28346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20 pts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10972800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20440"/>
            <a:ext cx="2194560" cy="658368"/>
          </a:xfrm>
          <a:prstGeom prst="roundRect">
            <a:avLst>
              <a:gd name="adj" fmla="val 8333"/>
            </a:avLst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C. Forensic Signature   —   Expert sign-off present on the block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789920" y="365760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20 pts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343400"/>
            <a:ext cx="10972800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343400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D. Time-Gap Penalty   —   Deducted if gap to previous block &gt; 72 hours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789920" y="4480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15 pts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5166360"/>
            <a:ext cx="10972800" cy="658368"/>
          </a:xfrm>
          <a:prstGeom prst="roundRect">
            <a:avLst>
              <a:gd name="adj" fmla="val 8333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5166360"/>
            <a:ext cx="1645920" cy="658368"/>
          </a:xfrm>
          <a:prstGeom prst="roundRect">
            <a:avLst>
              <a:gd name="adj" fmla="val 8333"/>
            </a:avLst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</a:rPr>
              <a:t>E. Role Appropriateness   —   Submitting officer role matches evidence category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789920" y="530352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1117"/>
                </a:solidFill>
              </a:rPr>
              <a:t>15 pts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" y="60807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E5FF"/>
                </a:solidFill>
              </a:rPr>
              <a:t>Total: 100 pts  |  Score &lt; 60 → flagged LOW TRUST  |  Score ≥ 80 → HIGH TRUST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ORIGINAL FEATURE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Real-Time Anomaly Detector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</a:rPr>
              <a:t>Runs automatically on every new evidence submission. Returns an array of anomaly flags — empty means clean.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929384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9293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OFF_HOURS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30352" y="2295144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Off-Hours Submission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30352" y="2651760"/>
            <a:ext cx="5166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Flags evidence submitted before 06:00 or after 23:00 UTC. Unusual working hours may indicate unauthorised access.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1929384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73952" y="19293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BURST_SUBMISSION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73952" y="2295144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Rapid Burst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73952" y="2651760"/>
            <a:ext cx="5166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Same officer submits ≥3 evidence blocks within 2 minutes. Could indicate automated or forged batch submissions.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4215384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42153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EXHIBIT_COLLISION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0352" y="4581144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Exhibit ID Collision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0352" y="4937760"/>
            <a:ext cx="5166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A duplicate exhibit ID already exists in the chain. Prevents the same physical item from being double-registered.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406908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3952" y="4215384"/>
            <a:ext cx="2194560" cy="274320"/>
          </a:xfrm>
          <a:prstGeom prst="roundRect">
            <a:avLst>
              <a:gd name="adj" fmla="val 16667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42153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117"/>
                </a:solidFill>
              </a:rPr>
              <a:t>ORPHANED_CASE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473952" y="4581144"/>
            <a:ext cx="5166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Orphaned Case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73952" y="4937760"/>
            <a:ext cx="5166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First block for a case number with zero custody events — highlights evidence submitted without proper intake procedure.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CustodyChain Works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4475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Officer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Logs In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4320" y="21031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JWT auth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bcrypt + RBAC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2121408"/>
            <a:ext cx="2286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137160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44475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Fills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Evidence Form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40280" y="21031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8 form types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SHA-256 fingerprint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77640" y="2121408"/>
            <a:ext cx="2286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37160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44475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API Server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Validates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06240" y="21031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Express + Helmet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Role permission check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2121408"/>
            <a:ext cx="2286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137160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44475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Block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Mined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72200" y="21031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SHA-256 PoW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Merkle Tree built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09560" y="2121408"/>
            <a:ext cx="2286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38160" y="137160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38160" y="144475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VETARA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Anomaly Run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38160" y="21031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Score 0-100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Flags returned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875520" y="2121408"/>
            <a:ext cx="228600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04120" y="1371600"/>
            <a:ext cx="1737360" cy="1554480"/>
          </a:xfrm>
          <a:prstGeom prst="roundRect">
            <a:avLst>
              <a:gd name="adj" fmla="val 5882"/>
            </a:avLst>
          </a:prstGeom>
          <a:solidFill>
            <a:srgbClr val="161B22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04120" y="144475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Block Sealed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on Chain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104120" y="21031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Immutable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</a:rPr>
              <a:t>Audit logged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246120"/>
            <a:ext cx="11430000" cy="621792"/>
          </a:xfrm>
          <a:prstGeom prst="roundRect">
            <a:avLst>
              <a:gd name="adj" fmla="val 8824"/>
            </a:avLst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3558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Frontend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51760" y="3355848"/>
            <a:ext cx="8961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HTML/CSS/JS  ·  Dark-theme SPA  ·  Role-aware sidebar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3995928"/>
            <a:ext cx="11430000" cy="621792"/>
          </a:xfrm>
          <a:prstGeom prst="roundRect">
            <a:avLst>
              <a:gd name="adj" fmla="val 8824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10565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API Layer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51760" y="4105656"/>
            <a:ext cx="8961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Express  ·  Helmet  ·  Rate-limit  ·  JWT middleware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65760" y="4745736"/>
            <a:ext cx="11430000" cy="621792"/>
          </a:xfrm>
          <a:prstGeom prst="roundRect">
            <a:avLst>
              <a:gd name="adj" fmla="val 8824"/>
            </a:avLst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85546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Blockchain Engine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651760" y="4855464"/>
            <a:ext cx="8961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PoW  ·  Merkle Tree  ·  VETARA  ·  Anomaly Detector  ·  Audit Log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5495544"/>
            <a:ext cx="11430000" cy="621792"/>
          </a:xfrm>
          <a:prstGeom prst="roundRect">
            <a:avLst>
              <a:gd name="adj" fmla="val 8824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60527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</a:rPr>
              <a:t>Persistence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651760" y="5605272"/>
            <a:ext cx="8961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chain.json  ·  audit.log  (append-only, local disk)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ACCESS CONTROL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Role-Based Access  ×  8 Evidence Types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3774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0" y="1298448"/>
            <a:ext cx="12801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2984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Submit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23360" y="1298448"/>
            <a:ext cx="12801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2984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1298448"/>
            <a:ext cx="16459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2984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Forensic Sign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949440" y="1298448"/>
            <a:ext cx="12801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2984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Audit Log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1298448"/>
            <a:ext cx="12801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2984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Delete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1664208"/>
            <a:ext cx="237744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6642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ADMIN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0" y="1664208"/>
            <a:ext cx="1280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0" y="16642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023360" y="1664208"/>
            <a:ext cx="1280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16642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03520" y="1664208"/>
            <a:ext cx="16459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6642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0" y="1664208"/>
            <a:ext cx="1280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6642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1664208"/>
            <a:ext cx="1280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6642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2066544"/>
            <a:ext cx="2377440" cy="384048"/>
          </a:xfrm>
          <a:prstGeom prst="rect">
            <a:avLst/>
          </a:prstGeom>
          <a:solidFill>
            <a:srgbClr val="0F141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0665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IO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0" y="2066544"/>
            <a:ext cx="1280160" cy="384048"/>
          </a:xfrm>
          <a:prstGeom prst="rect">
            <a:avLst/>
          </a:prstGeom>
          <a:solidFill>
            <a:srgbClr val="0F141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0" y="20665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023360" y="2066544"/>
            <a:ext cx="1280160" cy="384048"/>
          </a:xfrm>
          <a:prstGeom prst="rect">
            <a:avLst/>
          </a:prstGeom>
          <a:solidFill>
            <a:srgbClr val="0F141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20665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303520" y="2066544"/>
            <a:ext cx="1645920" cy="384048"/>
          </a:xfrm>
          <a:prstGeom prst="rect">
            <a:avLst/>
          </a:prstGeom>
          <a:solidFill>
            <a:srgbClr val="0F141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0" y="20665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49440" y="2066544"/>
            <a:ext cx="1280160" cy="384048"/>
          </a:xfrm>
          <a:prstGeom prst="rect">
            <a:avLst/>
          </a:prstGeom>
          <a:solidFill>
            <a:srgbClr val="0F141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20665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29600" y="2066544"/>
            <a:ext cx="1280160" cy="384048"/>
          </a:xfrm>
          <a:prstGeom prst="rect">
            <a:avLst/>
          </a:prstGeom>
          <a:solidFill>
            <a:srgbClr val="0F141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20665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2468880"/>
            <a:ext cx="237744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2468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FORENSIC EXPERT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0" y="2468880"/>
            <a:ext cx="1280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0" y="24688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023360" y="2468880"/>
            <a:ext cx="1280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23360" y="24688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303520" y="2468880"/>
            <a:ext cx="16459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0" y="24688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949440" y="2468880"/>
            <a:ext cx="1280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24688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229600" y="2468880"/>
            <a:ext cx="1280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29600" y="24688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65760" y="2871216"/>
            <a:ext cx="2377440" cy="384048"/>
          </a:xfrm>
          <a:prstGeom prst="rect">
            <a:avLst/>
          </a:prstGeom>
          <a:solidFill>
            <a:srgbClr val="0F141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287121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SUPERVISOR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743200" y="2871216"/>
            <a:ext cx="1280160" cy="384048"/>
          </a:xfrm>
          <a:prstGeom prst="rect">
            <a:avLst/>
          </a:prstGeom>
          <a:solidFill>
            <a:srgbClr val="0F141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0" y="28712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023360" y="2871216"/>
            <a:ext cx="1280160" cy="384048"/>
          </a:xfrm>
          <a:prstGeom prst="rect">
            <a:avLst/>
          </a:prstGeom>
          <a:solidFill>
            <a:srgbClr val="0F141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23360" y="28712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303520" y="2871216"/>
            <a:ext cx="1645920" cy="384048"/>
          </a:xfrm>
          <a:prstGeom prst="rect">
            <a:avLst/>
          </a:prstGeom>
          <a:solidFill>
            <a:srgbClr val="0F141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03520" y="287121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949440" y="2871216"/>
            <a:ext cx="1280160" cy="384048"/>
          </a:xfrm>
          <a:prstGeom prst="rect">
            <a:avLst/>
          </a:prstGeom>
          <a:solidFill>
            <a:srgbClr val="0F141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49440" y="28712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✅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8229600" y="2871216"/>
            <a:ext cx="1280160" cy="384048"/>
          </a:xfrm>
          <a:prstGeom prst="rect">
            <a:avLst/>
          </a:prstGeom>
          <a:solidFill>
            <a:srgbClr val="0F141A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229600" y="287121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65760" y="3273552"/>
            <a:ext cx="237744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327355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LEGAL OFFICER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743200" y="3273552"/>
            <a:ext cx="1280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3200" y="32735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023360" y="3273552"/>
            <a:ext cx="1280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23360" y="32735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303520" y="3273552"/>
            <a:ext cx="164592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0" y="32735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949440" y="3273552"/>
            <a:ext cx="1280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49440" y="32735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8229600" y="3273552"/>
            <a:ext cx="1280160" cy="384048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229600" y="32735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❌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8412480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Evidence Form Types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8412480" y="1664208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161B22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549640" y="166420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📱  Phone / Tablet / iPad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8412480" y="2167128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161B22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549640" y="216712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💻  Desktop / Laptop / Server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8412480" y="2670048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161B22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549640" y="267004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💾  External Storage Media</a:t>
            </a:r>
            <a:endParaRPr lang="en-US" sz="1050" dirty="0"/>
          </a:p>
        </p:txBody>
      </p:sp>
      <p:sp>
        <p:nvSpPr>
          <p:cNvPr id="85" name="Shape 83"/>
          <p:cNvSpPr/>
          <p:nvPr/>
        </p:nvSpPr>
        <p:spPr>
          <a:xfrm>
            <a:off x="8412480" y="3172968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161B22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549640" y="317296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🖼️  Image File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8412480" y="3675888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161B22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549640" y="367588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🎵  Audio File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8412480" y="4178808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161B22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549640" y="417880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🎬  Video File</a:t>
            </a:r>
            <a:endParaRPr lang="en-US" sz="1050" dirty="0"/>
          </a:p>
        </p:txBody>
      </p:sp>
      <p:sp>
        <p:nvSpPr>
          <p:cNvPr id="91" name="Shape 89"/>
          <p:cNvSpPr/>
          <p:nvPr/>
        </p:nvSpPr>
        <p:spPr>
          <a:xfrm>
            <a:off x="8412480" y="4681728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161B22"/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549640" y="468172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📄  Log File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8412480" y="5184648"/>
            <a:ext cx="3474720" cy="420624"/>
          </a:xfrm>
          <a:prstGeom prst="roundRect">
            <a:avLst>
              <a:gd name="adj" fmla="val 13043"/>
            </a:avLst>
          </a:prstGeom>
          <a:solidFill>
            <a:srgbClr val="161B22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549640" y="5184648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📑  Forensic Report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SECURITY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Security Layers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408176"/>
            <a:ext cx="73152" cy="694944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389888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Authentication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1719072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JWT HS256 · 8-hour expiry · bcrypt (10 rounds) password hashing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298448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408176"/>
            <a:ext cx="73152" cy="6949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1389888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Rate Limiting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01968" y="1719072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20 login attempts / 15 min · 200 API calls / min (express-rate-limit)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505456"/>
            <a:ext cx="73152" cy="694944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2487168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HTTP Hardening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2816352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Helmet.js security headers: CSP, HSTS, X-Frame-Options, etc.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2395728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2505456"/>
            <a:ext cx="73152" cy="6949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2487168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Evidence Integrity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01968" y="2816352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SHA-256 fingerprint of every form payload stored on-chain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93008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602736"/>
            <a:ext cx="73152" cy="694944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584448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Block Immutability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58368" y="3913632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PoW nonce + Merkle root + all fields baked into block hash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3493008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3602736"/>
            <a:ext cx="73152" cy="6949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3584448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Tamper Detection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601968" y="3913632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Full chain re-validation on every /api/blockchain/validate call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590288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" y="4700016"/>
            <a:ext cx="73152" cy="694944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4681728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Audit Trail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58368" y="5010912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Append-only structured JSON log — never updated, only appended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9360" y="4590288"/>
            <a:ext cx="5486400" cy="914400"/>
          </a:xfrm>
          <a:prstGeom prst="roundRect">
            <a:avLst>
              <a:gd name="adj" fmla="val 7000"/>
            </a:avLst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9088" y="4700016"/>
            <a:ext cx="73152" cy="69494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01968" y="4681728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VETARA Alerts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601968" y="5010912"/>
            <a:ext cx="5074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Anomalous submissions auto-flagged with code + detail string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0116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</a:rPr>
              <a:t>IMPACT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943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Impact &amp; Feasibility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9961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FF"/>
                </a:solidFill>
              </a:rPr>
              <a:t>Court-Ready Evidence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0352" y="2304288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Immutable SHA-256 hash chain provides cryptographic proof of evidence integrity admissible in court.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389888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49961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🏛️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07992" y="19385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FF"/>
                </a:solidFill>
              </a:rPr>
              <a:t>Accessible to All Units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07992" y="2304288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Runs on a single laptop with Node.js — no cloud subscription, no enterprise licence fee.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321040" y="1389888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49961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85632" y="193852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FF"/>
                </a:solidFill>
              </a:rPr>
              <a:t>Forensic Automation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85632" y="2304288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VETARA scoring replaces manual integrity review, saving forensic expert hours per case.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721608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313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0352" y="427024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FF"/>
                </a:solidFill>
              </a:rPr>
              <a:t>Offline First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0352" y="4636008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Works in areas with no internet. Chain syncs and validates locally — viable for remote field ops.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3721608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38313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07992" y="427024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FF"/>
                </a:solidFill>
              </a:rPr>
              <a:t>Scalable Roadmap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07992" y="4636008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Designed to migrate to IPFS persistence and Ed25519 officer signatures in the next iteration.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21040" y="3721608"/>
            <a:ext cx="3657600" cy="2011680"/>
          </a:xfrm>
          <a:prstGeom prst="roundRect">
            <a:avLst>
              <a:gd name="adj" fmla="val 4545"/>
            </a:avLst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83133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485632" y="4270248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E5FF"/>
                </a:solidFill>
              </a:rPr>
              <a:t>Academic Foundation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485632" y="4636008"/>
            <a:ext cx="3337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EC0"/>
                </a:solidFill>
              </a:rPr>
              <a:t>Built at NFSU Goa — grounded in forensic science standards taught by faculty practitioners.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115800" y="0"/>
            <a:ext cx="73152" cy="6858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109728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E5FF"/>
                </a:solidFill>
              </a:rPr>
              <a:t>⛓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0" y="22860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Thank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0" y="3200400"/>
            <a:ext cx="121889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5FF"/>
                </a:solidFill>
              </a:rPr>
              <a:t>CustodyChain — Tamper-Proof Digital Evidence Management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3749040"/>
            <a:ext cx="5788152" cy="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3931920"/>
            <a:ext cx="12188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Shubham Gadekar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0" y="434340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EC0"/>
                </a:solidFill>
              </a:rPr>
              <a:t>National Forensic Sciences University, Goa Campus (NFSU Goa)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0" y="4709160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EC0"/>
                </a:solidFill>
              </a:rPr>
              <a:t>Hackathon 2026  |  Cybersecurity Track  |  Digital Forensics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NFSU Goa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CustodyChain — Tamper-Proof Digital Evidence Management</dc:title>
  <dc:subject>CustodyChain — Hackathon 2026</dc:subject>
  <dc:creator>Shubham Gadekar</dc:creator>
  <cp:lastModifiedBy>Shubham Gadekar</cp:lastModifiedBy>
  <cp:revision>1</cp:revision>
  <dcterms:created xsi:type="dcterms:W3CDTF">2026-03-12T15:57:09Z</dcterms:created>
  <dcterms:modified xsi:type="dcterms:W3CDTF">2026-03-12T15:57:09Z</dcterms:modified>
</cp:coreProperties>
</file>